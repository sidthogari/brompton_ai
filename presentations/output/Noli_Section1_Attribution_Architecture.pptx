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the outcome, not the tools: marketing cannot reconcile Meta, Google Ads, and Email because we do not have one grain, one identity, one attribution model, or one place where business logic lives.</a:t>
            </a:r>
          </a:p>
          <a:p/>
          <a:p>
            <a:r>
              <a:t>Tell them you will not pitch a single-vendor lakehouse. Noli's JD and Azure estate point to a modern data stack. Each tool has a job. The risk is overlap — Fivetran transforms, dbt models, Databricks notebooks, and Power BI measures all inventing 'revenue' or 'attributed orders' differently.</a:t>
            </a:r>
          </a:p>
          <a:p/>
          <a:p>
            <a:r>
              <a:t>Promise: by the end they will see ingestion → model → QA → BI, where logic sits, how we scale to TBs/day, and the honest downsides of the stack.</a:t>
            </a:r>
          </a:p>
          <a:p/>
          <a:p>
            <a:r>
              <a:t>Time: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linger. This is a map so the Principal can interrupt later without you losing the thread.</a:t>
            </a:r>
          </a:p>
          <a:p/>
          <a:p>
            <a:r>
              <a:t>Call out that Section 2 reuses this architecture for finance self-service — we are not designing two platforms.</a:t>
            </a:r>
          </a:p>
          <a:p/>
          <a:p>
            <a:r>
              <a:t>Time: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problem the way a Principal would: this is not a connector outage. It is a semantics and contract failure.</a:t>
            </a:r>
          </a:p>
          <a:p/>
          <a:p>
            <a:r>
              <a:t>Noli-specific colour: paid social and email drive a beauty marketplace with quizzes, face-scan diagnostics and first-party profiles. Identity is messy (anonymous scan → account → order). Skin and email data are GDPR-sensitive — we cannot 'just join on email' in a BI dataset.</a:t>
            </a:r>
          </a:p>
          <a:p/>
          <a:p>
            <a:r>
              <a:t>The data team getting 'why doesn't this match' tickets is the symptom of no canonical fct_attribution and no reconciliation to vendor exports.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shows you think like a Senior DE. Tools do not fix a last-click dashboard compared to Meta's 7-day click / 1-day view default.</a:t>
            </a:r>
          </a:p>
          <a:p/>
          <a:p>
            <a:r>
              <a:t>Principle: publish multiple models side by side (last_click, first_click, linear, position_based) and a separate vendor_claimed fact for reconciliation. Default executive KPI is last non-direct click, 7-day, order grain, net of refunds — written down.</a:t>
            </a:r>
          </a:p>
          <a:p/>
          <a:p>
            <a:r>
              <a:t>If asked 'which model is right?': there is no right model. There is a signed-off default and transparent alternatives.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six principles are the 'why' behind every tool choice on the next slides.</a:t>
            </a:r>
          </a:p>
          <a:p/>
          <a:p>
            <a:r>
              <a:t>If challenged on ELT: classic ETL would clean UTMs in ADF/Fivetran and lose the raw evidence when marketing asks 'what did Meta actually send?'. We keep Bronze raw.</a:t>
            </a:r>
          </a:p>
          <a:p/>
          <a:p>
            <a:r>
              <a:t>Exception to pure ELT: irreversible hash of email/phone as early as possible, pepper from Key Vault, mapping table locked down. That is privacy-preserving ingest — still ELT for business logic.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in 90 seconds.</a:t>
            </a:r>
          </a:p>
          <a:p/>
          <a:p>
            <a:r>
              <a:t>Fivetran lands paid/owned/commerce. Databricks + Delta for heavy Python (UTM parse, identity graph, hashing) and TB-scale semi-structured. dbt is the modelling contract on Snowflake (and/or Databricks SQL). Airflow sequences Fivetran, Databricks jobs, dbt, tests, Power BI refresh.</a:t>
            </a:r>
          </a:p>
          <a:p/>
          <a:p>
            <a:r>
              <a:t>If they are Snowflake-only today: Bronze can be Snowflake RAW, Python via Snowpark or a thin Databricks job. If they are lakehouse-first: Databricks SQL serves Gold. The model does not change.</a:t>
            </a:r>
          </a:p>
          <a:p/>
          <a:p>
            <a:r>
              <a:t>Call out the red PII vault — we keep hashing. Gold never carries raw email.</a:t>
            </a:r>
          </a:p>
          <a:p/>
          <a:p>
            <a:r>
              <a:t>Clean rooms sit on Snowflake or Databricks Clean Rooms — matches the JD example project.</a:t>
            </a:r>
          </a:p>
          <a:p/>
          <a:p>
            <a:r>
              <a:t>Time: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Brompton-style poster. Spend 90 seconds walking left to right.</a:t>
            </a:r>
          </a:p>
          <a:p/>
          <a:p>
            <a:r>
              <a:t>Top bar = platform services. Sources → Fivetran/events → medallion + hash vault → Snowflake serve → Power BI/Excel. Right rail is how we operate it.</a:t>
            </a:r>
          </a:p>
          <a:p/>
          <a:p>
            <a:r>
              <a:t>Point at the red PII vault. Point at Gold as the only place Power BI is allowed.</a:t>
            </a:r>
          </a:p>
          <a:p/>
          <a:p>
            <a:r>
              <a:t>If they say 'this looks like Brompton': same craft (medallion, hash, RTBF, Unity Catalog), fitted to Noli's JD stack — Fivetran, dbt, Snowflake, Airflow — not a Databricks-only copy.</a:t>
            </a:r>
          </a:p>
          <a:p/>
          <a:p>
            <a:r>
              <a:t>Time: 1.5 minutes. If short on time, this slide replaces the previous box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columns: Bronze, hash gate, Silver, Gold, PII vault. Then the lane rules.</a:t>
            </a:r>
          </a:p>
          <a:p/>
          <a:p>
            <a:r>
              <a:t>The footer line is the soundbite: money/credit → dbt. Visual → Power BI. Identifier → hash/consent.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they asked for. Spend time here.</a:t>
            </a:r>
          </a:p>
          <a:p/>
          <a:p>
            <a:r>
              <a:t>Narrative: Fivetran = ingest. Databricks = hard Python + scale. Delta/UC = reliability and governance. Snowflake = serve + clean rooms. dbt = meaning. Airflow = time. Power BI = consumption.</a:t>
            </a:r>
          </a:p>
          <a:p/>
          <a:p>
            <a:r>
              <a:t>The failure mode is duplication: Fivetran transform + dbt + notebook + DAX = four definitions of revenue.</a:t>
            </a:r>
          </a:p>
          <a:p/>
          <a:p>
            <a:r>
              <a:t>If they ask 'why both Snowflake and Databricks?': I would not stand up both greenfield without a reason. Noli JD lists Snowflake; Azure + AI work lists Databricks-class processing. My rule: one Gold system of record (Snowflake). Databricks is justified for hashing, identity, streaming-ish events, and AI feature tables — not a second mart.</a:t>
            </a:r>
          </a:p>
          <a:p/>
          <a:p>
            <a:r>
              <a:t>If they are Databricks-only, Unity Catalog + Databricks SQL replaces Snowflake serving; clean rooms become Databricks Clean Rooms. Principles stay.</a:t>
            </a:r>
          </a:p>
          <a:p/>
          <a:p>
            <a:r>
              <a:t>Time: 2.5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you answer 'isn't this too many tools?' — yes, if they overlap. No, if each has a hard boundary.</a:t>
            </a:r>
          </a:p>
          <a:p/>
          <a:p>
            <a:r>
              <a:t>dbt on Databricks SQL or dbt on Snowflake — pick one adapter for Gold. I would not run two parallel dbt projects for the same mart.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Senior/Principal bait: 'why not transform in Fivetran to keep dbt thin?' Because we lose replay, tests, and lineage. Fivetran transformations are fine for tiny type casts, not attribution.</a:t>
            </a:r>
          </a:p>
          <a:p/>
          <a:p>
            <a:r>
              <a:t>'Why not dbt Python everywhere?' Because SQL models are reviewable by analytics engineers and documented. Python is for hashing, fuzzy identity, and nested payloads.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Stabilising the pipeline is half engineering, half operating model with marketing.</a:t>
            </a:r>
          </a:p>
          <a:p/>
          <a:p>
            <a:r>
              <a:t>You cannot regex your way out of five teams naming campaigns differently. The alias table is a product. The unspecified bucket is visible on the exec dashboard so tagging debt has a number.</a:t>
            </a:r>
          </a:p>
          <a:p/>
          <a:p>
            <a:r>
              <a:t>GA4: prefer BigQuery export via Fivetran or native, not UI-sampled reports.</a:t>
            </a:r>
          </a:p>
          <a:p/>
          <a:p>
            <a:r>
              <a:t>Meta/Google spend lands at campaign/ad-set grain; clicks/impressions must not be inner-joined to orders without a date spine or you will drop zero-conversion spend.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fct_attribution: this is how we stop dashboard wars. model_name in {last_non_direct_click, first_click, linear, position_based}. Default filter in the certified dataset is last_non_direct_click, 7-day lookback, net revenue after refunds.</a:t>
            </a:r>
          </a:p>
          <a:p/>
          <a:p>
            <a:r>
              <a:t>Weight sums to 1 per order per model so we can prove conservation: sum(attributed_revenue) = sum(order net) for that model.</a:t>
            </a:r>
          </a:p>
          <a:p/>
          <a:p>
            <a:r>
              <a:t>Identity: probabilistic stitch is a later phase. Phase 1 is deterministic (customer_id, hashed email, order email). Do not oversell a graph on day one.</a:t>
            </a:r>
          </a:p>
          <a:p/>
          <a:p>
            <a:r>
              <a:t>Spend: fct_ad_spend daily by campaign so ROAS = attributed_revenue / spend, same grain.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Noli collects face scans, quizzes, emails. Treat this as privacy-first, not a bolt-on.</a:t>
            </a:r>
          </a:p>
          <a:p/>
          <a:p>
            <a:r>
              <a:t>Be precise: hashing is not anonymisation if the mapping table exists — it is pseudonymisation (GDPR). That is fine if the map is locked and we document it.</a:t>
            </a:r>
          </a:p>
          <a:p/>
          <a:p>
            <a:r>
              <a:t>Do not claim 'encrypted PII in Bronze' unless we actually encrypt columns. I hash for join keys and restrict raw columns. Encryption at rest is platform default (ADLS/Snowflake).</a:t>
            </a:r>
          </a:p>
          <a:p/>
          <a:p>
            <a:r>
              <a:t>Clean room: this is how you mention L'Oréal/partner sharing without sounding reckless.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Principal-level: tests that only check not_null are table stakes. The interesting test is conservation of revenue across attribution weights, and reconciling vendor claimed vs us.</a:t>
            </a:r>
          </a:p>
          <a:p/>
          <a:p>
            <a:r>
              <a:t>Schema drift: Fivetran will add columns. dbt sources should not SELECT *. Bronze can evolve; Silver is typed.</a:t>
            </a:r>
          </a:p>
          <a:p/>
          <a:p>
            <a:r>
              <a:t>I would rather fail the Gold refresh and serve yesterday's certified numbers than publish a broken attribution table. Airflow short-circuit.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Noli may not be at TBs/day yet. Design as if clickstream + GA4 + ad insights will get there. Show you can scale without premature Kafka-everywhere.</a:t>
            </a:r>
          </a:p>
          <a:p/>
          <a:p>
            <a:r>
              <a:t>If they push streaming: marketing attribution is rarely sub-minute. Hourly or micro-batch is enough. Streaming is justified for onsite tracking quality (JD: traffic analysis), not for finance-grade attribution.</a:t>
            </a:r>
          </a:p>
          <a:p/>
          <a:p>
            <a:r>
              <a:t>Backfill strategy: replay Bronze through the same dbt models with a date window. Time travel on Delta/Snowflake to debug.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Pragmatism vs scalability — the JD working style. Week 1 is inventory and stopping the bleeding (raw in BI), not a 12-month target architecture tour.</a:t>
            </a:r>
          </a:p>
          <a:p/>
          <a:p>
            <a:r>
              <a:t>Offer to partner with the Data Product Manager on the default attribution definition — engineering should not pick last-click in a vacuum.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Stop. Smile. Invite questions on stack downsides, identity, or why Snowflake + Databricks.</a:t>
            </a:r>
          </a:p>
          <a:p/>
          <a:p>
            <a:r>
              <a:t>If time is short, skip nothing before the stack table and the model slide — those are the assessment.</a:t>
            </a:r>
          </a:p>
          <a:p/>
          <a:p>
            <a:r>
              <a:t>Time: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B05C45"/>
                </a:solidFill>
                <a:latin typeface="Calibri"/>
              </a:rPr>
              <a:t>NOLI  ·  DATA ENGINEER BUSINESS CASE  ·  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C1917"/>
                </a:solidFill>
                <a:latin typeface="Calibri"/>
              </a:rPr>
              <a:t>A trusted attribution
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A3430"/>
                </a:solidFill>
                <a:latin typeface="Calibri Light"/>
              </a:rPr>
              <a:t>End-to-end design from paid and owned channels to a single,
governed number — using a multi-tool stack, not a single vendor.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7A7168"/>
                </a:solidFill>
                <a:latin typeface="Calibri"/>
              </a:rPr>
              <a:t>Audience: Senior Data Engineer  ·  Principal Engineer     15 minutes
Stack: Fivetran · Databricks / Delta · Unity Catalog · Snowflake · dbt · Airflow ·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Sidhartha Thogari   ·   Data Engineer interview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HOW WE WILL USE 15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2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The brief, answered 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35608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904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80744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73352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Why Meta, Google Ads and Email cannot agree — grain, identity, windows, UTMs, vendor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9456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395728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45059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340864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633472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ELT path from sources to Power BI. Medallion + a restricted hash / PII store.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15468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3355848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41071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300984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Stack trade-offs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593592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Fivetran, Databricks, Delta / Unity Catalog, Snowflake, dbt, Airflow, Power BI — why and downside.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11480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4315968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37083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261104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Model &amp;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53712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Canonical attribution model. Logic in the warehouse, never in the BI tool.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07492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5276088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33095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221224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Trust at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513832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Contracts, tests, freshness, reconciliation. Incremental design for TBs/day.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3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Marketing does not have a number. It has three stories.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69264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 Light"/>
              </a:rPr>
              <a:t>Inconsistent attribution across Meta, Google Ads and Email. UTMs on URLs are missing or malformed.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691640"/>
            <a:ext cx="73152" cy="18288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80136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Vendor-claimed conversions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1226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Meta and Google both take credit for the same order. Email tools report 'revenue' on last click to a newsletter.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73152" cy="18288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80136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Broken campaign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11226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utm_source = fb / Facebook / meta / ig / paid_social. Same campaign, four keys. Sometimes no UTM at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5760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73152" cy="182880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76732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Unstable grain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07822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One report is sessions. One is users. One is orders. One is clicks. None are labelled.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5760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657600"/>
            <a:ext cx="73152" cy="182880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76732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Logic in the last mile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07822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Analysts fix mismatches in Power BI or Excel. Tomorrow the patch is a different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ENGINEERING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4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Five reasons the numbers diverge — before we pick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07008"/>
            <a:ext cx="11338560" cy="89611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26464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408176"/>
            <a:ext cx="8595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Cookie, email, customer_id, device. Logged-out quiz vs logged-in checkout. No stitch → double count or drop.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94560"/>
            <a:ext cx="11338560" cy="89611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414016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6888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Attribution window &amp;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395728"/>
            <a:ext cx="8595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1-day click vs 7-day click vs 28-day view. Last-click vs linear vs platform data-driven. Must be explicit columns, not opinions.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182112"/>
            <a:ext cx="11338560" cy="89611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401568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456432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Event vs commercial grain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383280"/>
            <a:ext cx="8595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Clicks and sessions are not orders. Refunds, cancellations and partial returns change 'attributed revenue' after the fact.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169664"/>
            <a:ext cx="11338560" cy="89611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438912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443984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UTM + landing hygiene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370832"/>
            <a:ext cx="8595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Missing, mixed case, aliases, leftover internal params. Paid landing pages without a tagging standard.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157216"/>
            <a:ext cx="11338560" cy="89611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537667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31536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Two sources of truth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358384"/>
            <a:ext cx="8595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Platform UI (Meta Ads Manager) vs warehouse. If we hide the vendor number, trust dies. If we mix it into the KPI, trust 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5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How I would improve trust — before drawing boxes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ELT, not ETL 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A3430"/>
                </a:solidFill>
                <a:latin typeface="Calibri"/>
              </a:rPr>
              <a:t>Land immutable raw payloads. Transform in the warehouse with tested SQL. Hash PII on the way in so raw email is not a free-for-all.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One grain, many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A3430"/>
                </a:solidFill>
                <a:latin typeface="Calibri"/>
              </a:rPr>
              <a:t>Order-level attribution is the commercial grain. Touchpoints stay at event grain. Models are columns or a model_name key — not competing dashboards.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Logic lives 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A3430"/>
                </a:solidFill>
                <a:latin typeface="Calibri"/>
              </a:rPr>
              <a:t>dbt (and a thin Python layer for hashing / identity). Not Fivetran pre-build transforms. Not Power BI measures that redefine net revenue.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11879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Contract the tags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A3430"/>
                </a:solidFill>
                <a:latin typeface="Calibri"/>
              </a:rPr>
              <a:t>Campaign naming + UTM dictionary + validation at the edge. Warehouse maps aliases; marketing owns the standard.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11879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Reconcile, don't hide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A3430"/>
                </a:solidFill>
                <a:latin typeface="Calibri"/>
              </a:rPr>
              <a:t>Vendor-claimed vs canonical. Freshness, volume, null-UTM rate. Tickets become dashboards.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3611879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Privacy by construction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A3430"/>
                </a:solidFill>
                <a:latin typeface="Calibri"/>
              </a:rPr>
              <a:t>Hashed keys in Gold. Restricted mapping store. Consent flags. RTBF. Clean-room-ready shares for partners.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END-TO-END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6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Sources  →  ingest  →  lakehouse / warehouse  →  governed Gold  → 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69264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 Light"/>
              </a:rPr>
              <a:t>Azure. Multi-tool. Airflow is the conductor — not a second transformation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70432"/>
            <a:ext cx="187451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B05C45"/>
                </a:solidFill>
                <a:latin typeface="Calibri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170432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B8956A"/>
                </a:solidFill>
                <a:latin typeface="Calibri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170432"/>
            <a:ext cx="3246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F7562"/>
                </a:solidFill>
                <a:latin typeface="Calibri"/>
              </a:rPr>
              <a:t>PROCESS &amp;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170432"/>
            <a:ext cx="1965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2C3A47"/>
                </a:solidFill>
                <a:latin typeface="Calibri"/>
              </a:rPr>
              <a:t>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170432"/>
            <a:ext cx="187451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8C4330"/>
                </a:solidFill>
                <a:latin typeface="Calibri"/>
              </a:rPr>
              <a:t>CONSUME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46304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3ECE3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517904"/>
            <a:ext cx="17465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1737360"/>
            <a:ext cx="1746503" cy="7223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Meta Ads
Google 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60604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3ECE3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660904"/>
            <a:ext cx="17465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Owned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880360"/>
            <a:ext cx="1746503" cy="7223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Email / CRM
(Klaviyo etc.)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49039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3ECE3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803903"/>
            <a:ext cx="17465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Site &amp; commerce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023359"/>
            <a:ext cx="1746503" cy="905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GA4 / pixel
Orders, refunds
Consent / CMP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146304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4872" y="1517904"/>
            <a:ext cx="202082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56A"/>
                </a:solidFill>
                <a:latin typeface="Calibri"/>
              </a:rPr>
              <a:t>Fivetran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1737360"/>
            <a:ext cx="2020824" cy="10881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Managed SaaS CDC
Meta, Google, email,
commerce, GA4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297180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4872" y="3026664"/>
            <a:ext cx="202082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56A"/>
                </a:solidFill>
                <a:latin typeface="Calibri"/>
              </a:rPr>
              <a:t>Events /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4872" y="3246120"/>
            <a:ext cx="2020824" cy="7223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Auto Loader / APIs
for pixel + exceptions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4114800"/>
            <a:ext cx="2148840" cy="8686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04872" y="4169663"/>
            <a:ext cx="202082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56A"/>
                </a:solidFill>
                <a:latin typeface="Calibri"/>
              </a:rPr>
              <a:t>Airflow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04872" y="4389120"/>
            <a:ext cx="2020824" cy="5394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Sync → hash → dbt
→ tests → refresh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146304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1517904"/>
            <a:ext cx="31181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F7562"/>
                </a:solidFill>
                <a:latin typeface="Calibri"/>
              </a:rPr>
              <a:t>Bronze  ·  Delta / Snowflake RAW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1737360"/>
            <a:ext cx="3118103" cy="905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Immutable JSON/tables  ·  schema evolution
Audit cols  ·  Fivetran metadata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278892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2843784"/>
            <a:ext cx="31181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F7562"/>
                </a:solidFill>
                <a:latin typeface="Calibri"/>
              </a:rPr>
              <a:t>Silver  ·  dbt + Databricks Python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3063239"/>
            <a:ext cx="3118103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UTM map  ·  identity stitch
Hash PII  ·  SCD2 campaigns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977639"/>
            <a:ext cx="3246120" cy="10058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4032503"/>
            <a:ext cx="31181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F7562"/>
                </a:solidFill>
                <a:latin typeface="Calibri"/>
              </a:rPr>
              <a:t>Gold  ·  dbt marts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4251959"/>
            <a:ext cx="3118103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fct_touchpoint  ·  fct_order
fct_attribution  ·  dim_*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1463040"/>
            <a:ext cx="1965960" cy="13258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82712" y="1517904"/>
            <a:ext cx="18379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C3A47"/>
                </a:solidFill>
                <a:latin typeface="Calibri"/>
              </a:rPr>
              <a:t>Snowflake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2712" y="1737360"/>
            <a:ext cx="1837943" cy="9966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Serving + shares
Clean rooms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09560" y="2880360"/>
            <a:ext cx="1965960" cy="10972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82712" y="2935224"/>
            <a:ext cx="18379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C3A47"/>
                </a:solidFill>
                <a:latin typeface="Calibri"/>
              </a:rPr>
              <a:t>Unity Catalog
+ Snowflake RBAC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82712" y="3154679"/>
            <a:ext cx="1837943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Lineage, masks
Row filters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09560" y="40690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82712" y="4123944"/>
            <a:ext cx="183794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A3453A"/>
                </a:solidFill>
                <a:latin typeface="Calibri"/>
              </a:rPr>
              <a:t>PII vault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82712" y="4343400"/>
            <a:ext cx="1837943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Hash map
DE-only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146304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40112" y="1517904"/>
            <a:ext cx="17465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C4330"/>
                </a:solidFill>
                <a:latin typeface="Calibri"/>
              </a:rPr>
              <a:t>Power BI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40112" y="1737360"/>
            <a:ext cx="1746503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Certified
semantic model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265176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0112" y="2706624"/>
            <a:ext cx="17465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C4330"/>
                </a:solidFill>
                <a:latin typeface="Calibri"/>
              </a:rPr>
              <a:t>dbt docs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0112" y="2926079"/>
            <a:ext cx="1746503" cy="7223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Metrics &amp;
exposures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66960" y="379476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40112" y="3849624"/>
            <a:ext cx="1746503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C4330"/>
                </a:solidFill>
                <a:latin typeface="Calibri"/>
              </a:rPr>
              <a:t>AI / ML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0112" y="4069080"/>
            <a:ext cx="1746503" cy="8595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3A3430"/>
                </a:solidFill>
                <a:latin typeface="Calibri"/>
              </a:rPr>
              <a:t>Feature tables
Genie / models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5166360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Across the top: Entra ID · Key Vault (hash pepper) · Unity Catalog + Snowflake policies · Airflow SLAs · cost/freshness alerts. Reverse ETL later — after identity is clean.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li_platfor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li_medallion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WHY THIS STACK — AND WHY NOT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9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Technology  ·  Why  ·  Downside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69264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 Light"/>
              </a:rPr>
              <a:t>I would not rip-and-replace Noli's modern data stack. I would stop tools from overlapping.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261872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800600"/>
                <a:gridCol w="4663440"/>
              </a:tblGrid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Why it earns a place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Downside I would manage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Fivetran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Managed, reliable connectors for Meta, Google Ads, email, GA4, commerce. Fast time-to-Bronze. Ops-light incremental sync.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Cost at volume. Vendor dependency. Weak as a transform layer — keep it extract + load.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Databricks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Python/Spark for UTM parsing, identity, PII hashing, TB-scale semi-structured, ML feature tables for AI enablement.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Needs engineering and tuning. Job-cluster cost if left on. Do not re-implement dbt models in notebooks.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Delta + Unity Catalog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ACID, time travel, schema evolution, lineage, RBAC, column masks. Auditability when attribution is challenged.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Platform complexity. Governance only works if we actually register tables and stop ad-hoc personal schemas.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Snowflake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JD-aligned serving warehouse. BI-friendly, sharing and clean rooms with brands / L'Oréal-class partners.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Another compute bill if we also run Databricks. Decide a system of record for Gold — I pick Snowflake for finance &amp; marketing KPIs.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dbt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SQL models, tests, docs, contracts, exposures. The only place 'attributed_revenue' is defined.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Overlap if Fivetran transformations or Power BI DAX duplicate the same logic. Discipline required.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Airflow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Cross-platform orchestration: Fivetran sync → hash job → dbt → quality gates → Power BI refresh. Sensors and retries.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Operational overhead. Treat DAGs as product: SLAs, alerts, no hidden cron on the side.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Power BI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How the business already consumes. Import/DirectQuery on Gold only. Analyze in Excel on the certified model.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Logic duplication if measures redefine net revenue or last-click. Dashboards are views, not the model.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GUARDRAILS SO THE STACK DOES NOT FIGHT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10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Each tool has a lane. Crossing lanes is how trust dies.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61872"/>
            <a:ext cx="3794760" cy="230428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61872"/>
            <a:ext cx="3794760" cy="384048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Fivetran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E6B52"/>
                </a:solidFill>
                <a:latin typeface="Calibri"/>
              </a:rPr>
              <a:t>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3852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Extract + load, schema drift handling, incremental cursors.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A3453A"/>
                </a:solidFill>
                <a:latin typeface="Calibri"/>
              </a:rPr>
              <a:t>DOES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61487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Business rules, UTM meaning, attribution, net revenue.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61872"/>
            <a:ext cx="3794760" cy="230428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61872"/>
            <a:ext cx="3794760" cy="384048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316736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73736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E6B52"/>
                </a:solidFill>
                <a:latin typeface="Calibri"/>
              </a:rPr>
              <a:t>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93852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Hash, identity graph, ugly JSON, heavy Python, feature tables.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56032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A3453A"/>
                </a:solidFill>
                <a:latin typeface="Calibri"/>
              </a:rPr>
              <a:t>DOES 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761487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Certified finance/marketing marts that analysts query.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261872"/>
            <a:ext cx="3794760" cy="230428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261872"/>
            <a:ext cx="3794760" cy="384048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316736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dbt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73736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E6B52"/>
                </a:solidFill>
                <a:latin typeface="Calibri"/>
              </a:rPr>
              <a:t>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93852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Silver/Gold SQL, tests, docs, metric names, SCD2, incremental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6032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A3453A"/>
                </a:solidFill>
                <a:latin typeface="Calibri"/>
              </a:rPr>
              <a:t>DOES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61487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Orchestrate Fivetran or replace Airflow SLAs.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730752"/>
            <a:ext cx="3794760" cy="230428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730752"/>
            <a:ext cx="3794760" cy="384048"/>
          </a:xfrm>
          <a:prstGeom prst="rect">
            <a:avLst/>
          </a:prstGeom>
          <a:solidFill>
            <a:srgbClr val="2C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785615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Airflow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20624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E6B52"/>
                </a:solidFill>
                <a:latin typeface="Calibri"/>
              </a:rPr>
              <a:t>DOES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0740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Order of operations, retries, sensors, freshness SLAs, paging.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02920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A3453A"/>
                </a:solidFill>
                <a:latin typeface="Calibri"/>
              </a:rPr>
              <a:t>DOES NOT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3036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Contain SELECT logic that belongs in dbt.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730752"/>
            <a:ext cx="3794760" cy="230428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3730752"/>
            <a:ext cx="3794760" cy="384048"/>
          </a:xfrm>
          <a:prstGeom prst="rect">
            <a:avLst/>
          </a:prstGeom>
          <a:solidFill>
            <a:srgbClr val="8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785615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20624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E6B52"/>
                </a:solidFill>
                <a:latin typeface="Calibri"/>
              </a:rPr>
              <a:t>DOES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40740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Visuals, RLS, certified dataset, Excel live connection.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02920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A3453A"/>
                </a:solidFill>
                <a:latin typeface="Calibri"/>
              </a:rPr>
              <a:t>DOES NOT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23036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Join raw Fivetran tables or invent attribution windows.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3730752"/>
            <a:ext cx="3794760" cy="230428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3730752"/>
            <a:ext cx="3794760" cy="384048"/>
          </a:xfrm>
          <a:prstGeom prst="rect">
            <a:avLst/>
          </a:prstGeom>
          <a:solidFill>
            <a:srgbClr val="A3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785615"/>
            <a:ext cx="3520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PII / hash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20624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E6B52"/>
                </a:solidFill>
                <a:latin typeface="Calibri"/>
              </a:rPr>
              <a:t>DOES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40740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Peppered hash, mapping table, RTBF, secure views.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029200"/>
            <a:ext cx="35204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A3453A"/>
                </a:solidFill>
                <a:latin typeface="Calibri"/>
              </a:rPr>
              <a:t>DOES NOT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5230368"/>
            <a:ext cx="3520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Live in Gold facts or get exported to Excel.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ETL VS ELT  ·  WHERE LOGIC LIVES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11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ELT for meaning. A thin 'E-hash-L' for privacy.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5669280" cy="324612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A3453A"/>
                </a:solidFill>
                <a:latin typeface="Calibri"/>
              </a:rPr>
              <a:t>What I would not do  ·  ETL-heavy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Clean UTMs inside Fivetran or ADF and drop the raw payload.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Apply last-click in the ingestion job — you cannot replay a new model.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Join orders to ad spend in Power BI on raw tables.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Hash in a BI calculated column (or not at all).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Let each dashboard pick its own attribution window.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532120" cy="324612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3E6B52"/>
                </a:solidFill>
                <a:latin typeface="Calibri"/>
              </a:rPr>
              <a:t>What I would do  ·  ELT + 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074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Bronze = exact source extract (plus Fivetran metadata).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Hash email/phone in a locked Databricks job before wide access.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Silver = parse, alias map, identity, SCD2, quality flags.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Gold = facts/dims + attribution models as data, not DAX.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A3430"/>
                </a:solidFill>
                <a:latin typeface="Calibri"/>
              </a:rPr>
              <a:t>–  Power BI = thin measures (sum, distinct count) on Gold.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11384280" cy="1691640"/>
          </a:xfrm>
          <a:prstGeom prst="roundRect">
            <a:avLst>
              <a:gd name="adj" fmla="val 5000"/>
            </a:avLst>
          </a:prstGeom>
          <a:solidFill>
            <a:srgbClr val="F3ECE3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Decision rule I would defend in the 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If a rule changes how money or credit is calculated, it belongs in dbt with a test and an owner.
If a rule is visual (colour, chart grain), it belongs in Power BI.
If a rule is 'can we store this identifier at all?', it belongs in the hash / consent path — not in a mart PR.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INGESTION AND THE UTM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12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Stabilise the pipeline at the edge — then map what you cannot 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5669280" cy="306324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5669280" cy="73152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26464"/>
            <a:ext cx="5394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Ingestion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37360"/>
            <a:ext cx="537667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Fivetran for Meta, Google Ads, email, commerce, GA4 BigQuery export if present.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Incremental / CDC. No nightly full dumps as the default.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Landing: RAW schema, Fivetran naming, _fivetran_synced, _fivetran_deleted.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Pixel / webhooks / messy files: Databricks Auto Loader or a small API job.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Airflow sensor: do not run dbt until sync freshness clears the SLA.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Backfills are first-class DAGs, not a laptop notebook.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532120" cy="306324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5532120" cy="73152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426464"/>
            <a:ext cx="52578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Campaign tagging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737360"/>
            <a:ext cx="523951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Written standard: utm_source / medium / campaign / content / term.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Allowed values + aliases table (fb → meta, ig → meta, paid-social → paid_social).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CI-ish check: weekly invalid-UTM report to marketing, not only engineering.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Paid landing URLs generated from a tool, not typed in Ads Manager.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Missing UTM → channel = 'unspecified', never silently 'direct'.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Internal traffic and staff orders flagged, not deleted.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480560"/>
            <a:ext cx="11384280" cy="1874519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Silver normalisation (dbt) — example grain of the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9728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utm_source_raw → utm_source_norm  ·  channel_group (paid_social / paid_search / email / organic / direct / unspecified)
campaign_key = hash(source_norm, campaign_norm, account_id)  ·  dim_campaign SCD2 for name changes
is_valid_utm  ·  is_internal  ·  consent_analytics  ·  event_ts_utc (one timezone, always)
Semi-structured: VARIANT/JSON parsed to typed columns; unknown keys kept in a payload map for replay.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DATA MODELLING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13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Commercial grain is the order. Credit is a table, not a vibe.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6187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61872"/>
            <a:ext cx="2788920" cy="73152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426463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1917"/>
                </a:solidFill>
                <a:latin typeface="Calibri"/>
              </a:rPr>
              <a:t>dim_date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81051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Standard date role-playing: order_date, click_date, refund_date.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26187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61872"/>
            <a:ext cx="2788920" cy="73152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426463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1917"/>
                </a:solidFill>
                <a:latin typeface="Calibri"/>
              </a:rPr>
              <a:t>dim_channel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81051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Paid social, paid search, email, organic, direct, unspecified, internal.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26187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61872"/>
            <a:ext cx="2788920" cy="73152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426463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1917"/>
                </a:solidFill>
                <a:latin typeface="Calibri"/>
              </a:rPr>
              <a:t>dim_campaign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81051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SCD2. Natural key from platform IDs + normalised UTM campaign.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26187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61872"/>
            <a:ext cx="2788920" cy="73152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1426463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C1917"/>
                </a:solidFill>
                <a:latin typeface="Calibri"/>
              </a:rPr>
              <a:t>dim_customer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181051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Hashed customer_sk only. No email. Consent flags as attributes.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22783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227832"/>
            <a:ext cx="2788920" cy="73152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3392424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fct_touchpoint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377647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One row per impression/click/email-event. Timestamp, campaign_sk, customer_sk, session_id.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22783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227832"/>
            <a:ext cx="2788920" cy="73152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47288" y="3392424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377647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One row per order. Gross, discount, tax, shipping, net, status, refunded_at.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22783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227832"/>
            <a:ext cx="2788920" cy="73152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392424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fct_attribution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77647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order_id × model_name. channel_sk, campaign_sk, attributed_revenue, attributed_weight.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3227832"/>
            <a:ext cx="2788920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89720" y="3227832"/>
            <a:ext cx="2788920" cy="73152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3392424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fct_vendor_claimed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3776472"/>
            <a:ext cx="25603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What Meta/Google/Email reported. For reconciliation only — never mixed into the KPI.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PRIVACY, HASHING, GDPR, CLEAN ROOMS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14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Keep the hash. Gold never sees raw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5669280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How we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0784"/>
            <a:ext cx="535838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SHA-256(normalised_identifier + pepper). Pepper in Azure Key Vault, not in git. Normalise email (trim, lower) before hash so 'A@B' and 'a@b' collide correctly. Phone in E.164.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669280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38988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PII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700784"/>
            <a:ext cx="535838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Restricted schema: map_hash (raw → hash), access DE + DPO only. Unity Catalog / Snowflake masks. Secure views for analytics. No SELECT * grants on Bronze PII columns.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11879"/>
            <a:ext cx="5669280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611879"/>
            <a:ext cx="73152" cy="2194560"/>
          </a:xfrm>
          <a:prstGeom prst="rect">
            <a:avLst/>
          </a:prstGeom>
          <a:solidFill>
            <a:srgbClr val="2C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721607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RTBF &amp; consent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032503"/>
            <a:ext cx="535838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Right to be forgotten: delete/suppress mapping + tombstone hash in facts (keep financial history aggregated). Consent from CMP joined before activation or detailed profiling. Special-category risk: skin/quiz data stays out of marketing marts.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11879"/>
            <a:ext cx="5669280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11879"/>
            <a:ext cx="73152" cy="219456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721607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Clean rooms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032503"/>
            <a:ext cx="535838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JD project. Share hashed or aggregated keys with brand partners — not emails. Snowflake clean rooms or Databricks Clean Rooms. Purpose limitation in the share contract. Audit every query.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15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Trust is a pipeline with gates — not a Slack thread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788920" cy="9144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Contract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514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8C4330"/>
                </a:solidFill>
                <a:latin typeface="Calibri"/>
              </a:rPr>
              <a:t>dbt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unique + not_null on order_id, touchpoint_id
relationships to dims
accepted_values on channel_group, model_name
conservation: attr revenue = net revenue per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28016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280160"/>
            <a:ext cx="2788920" cy="9144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4630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Freshness &amp;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01168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011680"/>
            <a:ext cx="2514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8C4330"/>
                </a:solidFill>
                <a:latin typeface="Calibri"/>
              </a:rPr>
              <a:t>Airflow + dbt source freshness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Fivetran synced_at vs SLA (e.g. Meta &lt; 2h)
Row-count z-score vs 14-day baseline
Zero-row is a fail, not a green empty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28016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280160"/>
            <a:ext cx="2788920" cy="9144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Semantic 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01168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11680"/>
            <a:ext cx="2514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8C4330"/>
                </a:solidFill>
                <a:latin typeface="Calibri"/>
              </a:rPr>
              <a:t>Recon mart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Vendor claimed vs canonical (tolerance band)
Unspecified UTM %
Refund lag: attributed revenue restated
Direct-share of last-click (sanity)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28016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280160"/>
            <a:ext cx="2788920" cy="9144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46304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Observability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201168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2011680"/>
            <a:ext cx="2514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8C4330"/>
                </a:solidFill>
                <a:latin typeface="Calibri"/>
              </a:rPr>
              <a:t>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46888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Pager on SLA miss and conservation break
Dashboard: pipeline, DBU/credit, queue time
dbt exposures so a failed model emails the dashboard owner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SCALING TO TBS PER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16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TBs/day is an incremental design problem, not a bigger cluster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Partition /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Event and order tables clustered on event_date (and channel where it pays). Never let Power BI scan Bronze.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Incremental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Fivetran cursors. dbt incremental + unique_key. Databricks Auto Loader checkpoints. No full rebuild of touchpoints.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Separate compute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Transform warehouse/job cluster ≠ BI warehouse. Finance refresh cannot queue behind a 4TB backfill.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11879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Semi-structured 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Parse once in Silver. Gold is typed. Keep raw VARIANT only in Bronze for replay.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11879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Photon / result 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Databricks Photon or Snowflake result cache + clustering for the certified mart. Pre-aggregate daily ROAS.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3611879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Cost 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Auto-suspend. Airflow pool limits. Budget alerts on Fivetran MAR and warehouse credits/DBUs. Prune Fivetran tables we do not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90-DAY PLAN AND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17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Ship trust in slices — do not boil the lake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3749039" cy="4572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Days 1–30  ·  Stabilise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3383280" cy="2423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Inventory current dashboards and definitions.
Fivetran → RAW for Meta, Google, email, orders.
UTM alias table + unspecified KPI.
Hash path + PII grants locked.
Stop new Power BI models on raw tables.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749039" cy="45720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7160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Days 31–60  ·  Canonical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3383280" cy="2423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dbt Silver/Gold: orders, touchpoints, last-click v1.
Conservation tests + freshness SLAs.
Certified Power BI dataset, one default model.
Vendor-claimed recon dashboard.
Airflow DAG replaces hidden refresh jobs.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3749039" cy="457200"/>
          </a:xfrm>
          <a:prstGeom prst="rect">
            <a:avLst/>
          </a:prstGeom>
          <a:solidFill>
            <a:srgbClr val="2C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37160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Days 61–90  ·  Scale &amp;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1920240"/>
            <a:ext cx="3383280" cy="2423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Add linear / position-based models.
Daily spend + ROAS mart.
Identity v1 (deterministic only).
Clean-room pattern for one partner.
Runbook, dbt docs, on-call.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663440"/>
            <a:ext cx="11384280" cy="1691640"/>
          </a:xfrm>
          <a:prstGeom prst="roundRect">
            <a:avLst>
              <a:gd name="adj" fmla="val 5000"/>
            </a:avLst>
          </a:prstGeom>
          <a:solidFill>
            <a:srgbClr val="F3ECE3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7316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How I would know it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–  'Why doesn't this match?' tickets down ≥ 70% after the certified dataset is the only marketing source.
–  Unspecified UTM share falling; conservation test green for 14 consecutive days.
–  Vendor vs canonical variance explained (window/model), not ignored.
–  p95 of the attribution dashboard &lt; 5s (Section 2 will push finance below 3s).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1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18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What I want you to remember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11338560" cy="11155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481328"/>
            <a:ext cx="640080" cy="6858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640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417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Multi-tool on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830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Fivetran ingest, Databricks for hard Python and scale, Snowflake to serve and share, dbt for meaning, Airflow for time, Power BI for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14600"/>
            <a:ext cx="11338560" cy="11155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715768"/>
            <a:ext cx="640080" cy="6858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62072"/>
            <a:ext cx="640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5176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Logic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Attribution and revenue are warehouse models with tests. BI does not get a vote on the formula.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49039"/>
            <a:ext cx="11338560" cy="111556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950208"/>
            <a:ext cx="640080" cy="685800"/>
          </a:xfrm>
          <a:prstGeom prst="roundRect">
            <a:avLst>
              <a:gd name="adj" fmla="val 15000"/>
            </a:avLst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96512"/>
            <a:ext cx="640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862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Hash and recon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2519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Pseudonymous Gold, locked map, RTBF. Vendor numbers sit beside ours — we explain the delta.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074920"/>
            <a:ext cx="11338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3A3430"/>
                </a:solidFill>
                <a:latin typeface="Calibri Light"/>
              </a:rPr>
              <a:t>Next: Section 2 — the same platform, made self-serve for finance.
Trusted net revenue, fast dashboards, and an end to Excel-as-a-warehouse.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