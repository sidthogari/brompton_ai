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from Section 1: we already have a place for logic (dbt Gold) and a hash path. Finance pain is different — speed, explainability, and inconsistent definitions — but the anti-pattern is the same: raw tables + joins in Power BI + Excel copies.</a:t>
            </a:r>
          </a:p>
          <a:p/>
          <a:p>
            <a:r>
              <a:t>Noli context: marketplace GMV, discounts, GWPs, refunds, brand-funded promos. 'Net revenue' is a product decision, not a SQL preference.</a:t>
            </a:r>
          </a:p>
          <a:p/>
          <a:p>
            <a:r>
              <a:t>Time: 30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Name the real risk: month-end close and board packs using a number that marketing attribution (Section 1) cannot reconcile to. If finance net revenue ≠ sum of attributed net revenue under the default model, we failed both sections.</a:t>
            </a:r>
          </a:p>
          <a:p/>
          <a:p>
            <a:r>
              <a:t>Excel is not the enemy. Uncertified Excel on raw extracts is.</a:t>
            </a:r>
          </a:p>
          <a:p/>
          <a:p>
            <a:r>
              <a:t>Time: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pretend you can sign off net revenue in the interview. Show the decision table and say the Data Product Manager + Finance own the words; engineering owns the implementation, tests, and that every tool reads the same column.</a:t>
            </a:r>
          </a:p>
          <a:p/>
          <a:p>
            <a:r>
              <a:t>Noli specifics to mention if asked: gift-with-purchase, brand-funded markdowns, marketplace vs 1P if they expand, multi-currency later. Start GBP, one entity.</a:t>
            </a:r>
          </a:p>
          <a:p/>
          <a:p>
            <a:r>
              <a:t>VAT: UK beauty retail almost always needs ex-VAT for commercial dashboards and a tax column for finance. Never bury VAT inside 'sales'.</a:t>
            </a:r>
          </a:p>
          <a:p/>
          <a:p>
            <a:r>
              <a:t>Time: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answers 'changes needed to the architecture/data model'. Emphasise reuse.</a:t>
            </a:r>
          </a:p>
          <a:p/>
          <a:p>
            <a:r>
              <a:t>If they ask about Databricks SQL vs Snowflake for this mart: serving finance KPIs is Snowflake (or Databricks SQL if that is the SoR). Not both.</a:t>
            </a:r>
          </a:p>
          <a:p/>
          <a:p>
            <a:r>
              <a:t>Time: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Why line grain: discount impact and brand mix cannot be explained at header grain.</a:t>
            </a:r>
          </a:p>
          <a:p/>
          <a:p>
            <a:r>
              <a:t>Why day agg: exec dashboard should not sum 10M lines on every slicer click.</a:t>
            </a:r>
          </a:p>
          <a:p/>
          <a:p>
            <a:r>
              <a:t>Channel on the order is 'how they bought' (web, app). Attribution channel is 'who gets credit'. Do not collapse those in one column — that is how Section 1 and 2 start fighting.</a:t>
            </a:r>
          </a:p>
          <a:p/>
          <a:p>
            <a:r>
              <a:t>Time: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heart of 'how business logic is applied inconsistently' and how we fix it.</a:t>
            </a:r>
          </a:p>
          <a:p/>
          <a:p>
            <a:r>
              <a:t>If they have MetricFlow / dbt Semantic Layer / Power BI calculation groups — great, use them. If not, a well-named Gold column plus a one-page metric catalogue is enough for a startup. Do not sell a 6-month semantic-layer programme.</a:t>
            </a:r>
          </a:p>
          <a:p/>
          <a:p>
            <a:r>
              <a:t>Time: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concrete. 10–15s on a finance dashboard is almost always raw-table DirectQuery plus DAX joins.</a:t>
            </a:r>
          </a:p>
          <a:p/>
          <a:p>
            <a:r>
              <a:t>Target: p95 &lt; 3s for the exec view; &lt; 8s for a line-level drill page.</a:t>
            </a:r>
          </a:p>
          <a:p/>
          <a:p>
            <a:r>
              <a:t>Snowflake: clustering on order_date, search optimization if needed, result cache.</a:t>
            </a:r>
          </a:p>
          <a:p>
            <a:r>
              <a:t>Databricks SQL: Photon, clustering, warehouse sizing, query profile.</a:t>
            </a:r>
          </a:p>
          <a:p/>
          <a:p>
            <a:r>
              <a:t>I would measure before/after with the Power BI performance analyzer and warehouse query history — not vibes.</a:t>
            </a:r>
          </a:p>
          <a:p/>
          <a:p>
            <a:r>
              <a:t>Time: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Self-serve fails when engineering dumps 200 tables into a workspace and calls it enablement.</a:t>
            </a:r>
          </a:p>
          <a:p/>
          <a:p>
            <a:r>
              <a:t>Paved road: 1 endorsed dataset, 1 catalogue, 1 request path. Dirt road (warehouse access) exists for the Data Tech Lead and a couple of power users — logged, not default.</a:t>
            </a:r>
          </a:p>
          <a:p/>
          <a:p>
            <a:r>
              <a:t>Genie / AI/BI: useful later on Gold, dangerous on RAW. Same rule as humans.</a:t>
            </a:r>
          </a:p>
          <a:p/>
          <a:p>
            <a:r>
              <a:t>Time: 1.5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Principal prompt: how do we move fast with a small team? Certified path is fast because it is narrow. Exceptions are explicit.</a:t>
            </a:r>
          </a:p>
          <a:p/>
          <a:p>
            <a:r>
              <a:t>Dual-run when changing net revenue: publish net_revenue_v2 alongside v1 for one close, then switch the default measure.</a:t>
            </a:r>
          </a:p>
          <a:p/>
          <a:p>
            <a:r>
              <a:t>Time: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you will work with the DPM and Tech Lead, not hero-build a private stack.</a:t>
            </a:r>
          </a:p>
          <a:p/>
          <a:p>
            <a:r>
              <a:t>AI enablement from the JD: model-ready data is this Gold spine plus documented grains — not a separate 'AI dump'.</a:t>
            </a:r>
          </a:p>
          <a:p/>
          <a:p>
            <a:r>
              <a:t>Time: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Shows judgement. JD lists reverse ETL as a nice-to-have skill, not the first milestone.</a:t>
            </a:r>
          </a:p>
          <a:p/>
          <a:p>
            <a:r>
              <a:t>Time: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leading indicators the Principal can hold you to.</a:t>
            </a:r>
          </a:p>
          <a:p/>
          <a:p>
            <a:r>
              <a:t>Also track: % of analyst hours on paved road vs dirt road; Fivetran + warehouse cost vs baseline; Excel workbooks still on RAW (Power BI admin + sharing audit).</a:t>
            </a:r>
          </a:p>
          <a:p/>
          <a:p>
            <a:r>
              <a:t>Qualitative: Finance will present the dashboard in the leadership meeting without a disclaimer slide.</a:t>
            </a:r>
          </a:p>
          <a:p/>
          <a:p>
            <a:r>
              <a:t>Time: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 with Section 1 timeline: same first 30 days (RAW + hash + stop BI on raw). Finance mart and attribution mart can land in parallel if we share fct_order.</a:t>
            </a:r>
          </a:p>
          <a:p/>
          <a:p>
            <a:r>
              <a:t>Time: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Principals hire people who can say no. The 'refuse' list is as important as the architecture.</a:t>
            </a:r>
          </a:p>
          <a:p/>
          <a:p>
            <a:r>
              <a:t>Time: 1 minute.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pragmatism. Invite questions on the formula, Power BI mode, or how this maps to their current Snowflake/dbt setup.</a:t>
            </a:r>
          </a:p>
          <a:p/>
          <a:p>
            <a:r>
              <a:t>If they ask about Brompton/Databricks depth: you have done lakehouse + GDPR hashing in production; you are explicitly fitting that craft to Noli's stack rather than importing a vendor religion.</a:t>
            </a:r>
          </a:p>
          <a:p/>
          <a:p>
            <a:r>
              <a:t>Time: 45 seconds.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78992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5F7562"/>
                </a:solidFill>
                <a:latin typeface="Calibri"/>
              </a:rPr>
              <a:t>NOLI  ·  DATA ENGINEER BUSINESS CASE  ·  SECTION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0" cy="1463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000" b="1" i="0">
                <a:solidFill>
                  <a:srgbClr val="1C1917"/>
                </a:solidFill>
                <a:latin typeface="Calibri"/>
              </a:rPr>
              <a:t>A self-service revenue
platform finance can trust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83280"/>
            <a:ext cx="10515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0" i="0">
                <a:solidFill>
                  <a:srgbClr val="3A3430"/>
                </a:solidFill>
                <a:latin typeface="Calibri Light"/>
              </a:rPr>
              <a:t>Same architecture as Section 1. Different product: one definition of net revenue,
fast dashboards, and Excel that cannot invent a second warehouse.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70916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7A7168"/>
                </a:solidFill>
                <a:latin typeface="Calibri"/>
              </a:rPr>
              <a:t>Audience: Senior Data Engineer  ·  Principal Engineer     15 minutes
Built on: Fivetran · Databricks · Delta / Unity Catalog · Snowflake · dbt · Airflow · Power 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382512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FFFFFF"/>
                </a:solidFill>
                <a:latin typeface="Calibri"/>
              </a:rPr>
              <a:t>Sidhartha Thogari   ·   Data Engineer interview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2  ·  Business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2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Leadership wants to trust the numbers. The dashboard cannot explain itself.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969264"/>
            <a:ext cx="113385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 Light"/>
              </a:rPr>
              <a:t>Finance reports sales, refunds and discount impact from raw tables. Joins live in Power BI. 10–15s loads. Excel is the real BI tool.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1691640"/>
            <a:ext cx="5669280" cy="182880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11480" y="1691640"/>
            <a:ext cx="73152" cy="18288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2648" y="1801368"/>
            <a:ext cx="53583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Definition drift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112264"/>
            <a:ext cx="535838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Net revenue, GMV, discount rate and 'refunds' mean different things in three reports and a close spreadsheet.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91640"/>
            <a:ext cx="5669280" cy="182880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691640"/>
            <a:ext cx="73152" cy="1828800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4808" y="1801368"/>
            <a:ext cx="53583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Wrong grain in 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112264"/>
            <a:ext cx="535838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Raw Fivetran orders ⋈ refunds ⋈ discounts in DAX. Every new analyst re-discovers fan-out bugs.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657600"/>
            <a:ext cx="5669280" cy="182880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11480" y="3657600"/>
            <a:ext cx="73152" cy="18288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3767328"/>
            <a:ext cx="53583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Latency as a trust issue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" y="4078224"/>
            <a:ext cx="535838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10–15s feels broken. People export and do not come back. Shadow numbers win.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3657600"/>
            <a:ext cx="5669280" cy="182880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63640" y="3657600"/>
            <a:ext cx="73152" cy="1828800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64808" y="3767328"/>
            <a:ext cx="53583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No owner, little capacity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4078224"/>
            <a:ext cx="5358384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Pressure to 'just make it right' with a small data team. Self-serve must reduce interrupt load, not add a ticket queue.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INCONSISTENT BUSINESS LOGIC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2  ·  Business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3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Everyone can write a measure. That is the bug.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280160"/>
          <a:ext cx="114300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709160"/>
                <a:gridCol w="4709160"/>
              </a:tblGrid>
              <a:tr h="838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 marL="73152" marR="73152" marT="54864" marB="54864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How it fragments today</a:t>
                      </a:r>
                    </a:p>
                  </a:txBody>
                  <a:tcPr marL="73152" marR="73152" marT="54864" marB="54864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Canonical rule (draft — Product + Finance sign-off)</a:t>
                      </a:r>
                    </a:p>
                  </a:txBody>
                  <a:tcPr marL="73152" marR="73152" marT="54864" marB="54864" anchor="ctr">
                    <a:solidFill>
                      <a:srgbClr val="1C1917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8C4330"/>
                          </a:solidFill>
                          <a:latin typeface="Calibri"/>
                        </a:rPr>
                        <a:t>Gross sales / GMV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With vs without tax; with vs without shipping; cancelled orders included.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Sum of fulfilled order lines, ex-VAT, before discounts, excluding cancelled / test / staff.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8C4330"/>
                          </a:solidFill>
                          <a:latin typeface="Calibri"/>
                        </a:rPr>
                        <a:t>Discounts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Promo code only vs GWP vs employee vs shipping. Stacking unclear.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All commercial reductions at line grain, typed (code, automatic, GWP, staff). GWP is a discount type, not free revenue.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8C4330"/>
                          </a:solidFill>
                          <a:latin typeface="Calibri"/>
                        </a:rPr>
                        <a:t>Refunds / returns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Partial refunds missed. Timing: order date vs refund date.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fct_refund at refund_date; net revenue restated for order_date and available as refund-period view.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8C4330"/>
                          </a:solidFill>
                          <a:latin typeface="Calibri"/>
                        </a:rPr>
                        <a:t>Net revenue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GMV − discounts; or − refunds; or − both; or 'what Shopify said'.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GMV − discounts − refunds − chargebacks. Shipping collected is not net revenue unless Finance says so.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</a:tr>
              <a:tr h="838200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8C4330"/>
                          </a:solidFill>
                          <a:latin typeface="Calibri"/>
                        </a:rPr>
                        <a:t>AOV / discount rate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Numerator and denominator from different filters.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Same order set. discount_rate = discounts / GMV. AOV = net / order_count.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WHAT CHANGES ON THE SECTION 1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2  ·  Business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4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We do not build a second platform. We add a finance product on Gold.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2788920" cy="3063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2788920" cy="457200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1371600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Keep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920240"/>
            <a:ext cx="2468880" cy="2240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3A3430"/>
                </a:solidFill>
                <a:latin typeface="Calibri"/>
              </a:rPr>
              <a:t>Fivetran RAW, hash vault, Airflow, Unity Catalog / Snowflake RBAC, dbt project, certified Power BI pattern.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7560" y="1280160"/>
            <a:ext cx="2788920" cy="3063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280160"/>
            <a:ext cx="2788920" cy="4572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371600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Add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20440" y="1920240"/>
            <a:ext cx="2468880" cy="2240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3A3430"/>
                </a:solidFill>
                <a:latin typeface="Calibri"/>
              </a:rPr>
              <a:t>Finance mart: fct_order_line, fct_refund, fct_discount, daily snapshot, metric layer. Semantic model. Analyze in Excel.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280160"/>
            <a:ext cx="2788920" cy="3063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1280160"/>
            <a:ext cx="2788920" cy="457200"/>
          </a:xfrm>
          <a:prstGeom prst="rect">
            <a:avLst/>
          </a:prstGeom>
          <a:solidFill>
            <a:srgbClr val="B8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371600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Change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1920240"/>
            <a:ext cx="2468880" cy="2240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3A3430"/>
                </a:solidFill>
                <a:latin typeface="Calibri"/>
              </a:rPr>
              <a:t>Ban BI on RAW. Split compute: dbt transform vs BI warehouse. Pre-aggregates for the exec pack. Metric tests.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89720" y="1280160"/>
            <a:ext cx="2788920" cy="306324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1280160"/>
            <a:ext cx="2788920" cy="457200"/>
          </a:xfrm>
          <a:prstGeom prst="rect">
            <a:avLst/>
          </a:prstGeom>
          <a:solidFill>
            <a:srgbClr val="2C3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1371600"/>
            <a:ext cx="2514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Defer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1920240"/>
            <a:ext cx="2468880" cy="2240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 i="0">
                <a:solidFill>
                  <a:srgbClr val="3A3430"/>
                </a:solidFill>
                <a:latin typeface="Calibri"/>
              </a:rPr>
              <a:t>Reverse ETL of 'VIP revenue' into CRM until identity + consent are clean. Real-time finance. A second BI tool.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526280"/>
            <a:ext cx="11384280" cy="1783080"/>
          </a:xfrm>
          <a:prstGeom prst="roundRect">
            <a:avLst>
              <a:gd name="adj" fmla="val 5000"/>
            </a:avLst>
          </a:prstGeom>
          <a:solidFill>
            <a:srgbClr val="F3ECE3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66344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C1917"/>
                </a:solidFill>
                <a:latin typeface="Calibri"/>
              </a:rPr>
              <a:t>The join moves left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029200"/>
            <a:ext cx="109728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"/>
              </a:rPr>
              <a:t>Today: Power BI scans raw tables and joins them per visual.
Target: dbt incremental models produce a star schema + a daily finance agg. Power BI Import mode on that agg (and DirectQuery only if we must).
Attribution (Section 1) reads the same fct_order.net_revenue. One economic spine.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FINANCE DATA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2  ·  Business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5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Line grain for truth. Day grain for speed. Metrics for language.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61872"/>
            <a:ext cx="2788920" cy="219456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" y="1408175"/>
            <a:ext cx="254203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8C4330"/>
                </a:solidFill>
                <a:latin typeface="Calibri"/>
              </a:rPr>
              <a:t>fct_order_line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1920239"/>
            <a:ext cx="2542032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SKU, brand, category, qty, gmv, discount, net, tax, shipping share. The atomic commercial fact.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261872"/>
            <a:ext cx="2788920" cy="219456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65576" y="1408175"/>
            <a:ext cx="254203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8C4330"/>
                </a:solidFill>
                <a:latin typeface="Calibri"/>
              </a:rPr>
              <a:t>fct_order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65576" y="1920239"/>
            <a:ext cx="2542032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Header rollup of the same rules. Status, customer_sk (hashed), channel of order — not attribution credit.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261872"/>
            <a:ext cx="2788920" cy="219456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91656" y="1408175"/>
            <a:ext cx="254203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8C4330"/>
                </a:solidFill>
                <a:latin typeface="Calibri"/>
              </a:rPr>
              <a:t>fct_discount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91656" y="1920239"/>
            <a:ext cx="2542032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One row per discount application. Type, code, funded_by (Noli vs brand).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89720" y="1261872"/>
            <a:ext cx="2788920" cy="219456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17736" y="1408175"/>
            <a:ext cx="254203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8C4330"/>
                </a:solidFill>
                <a:latin typeface="Calibri"/>
              </a:rPr>
              <a:t>fct_refund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17736" y="1920239"/>
            <a:ext cx="2542032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Partial/full, reason, refund_ts, original_order_id, amount. Restates net.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593591"/>
            <a:ext cx="2788920" cy="219456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39496" y="3739896"/>
            <a:ext cx="254203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8C4330"/>
                </a:solidFill>
                <a:latin typeface="Calibri"/>
              </a:rPr>
              <a:t>agg_finance_day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9496" y="4251959"/>
            <a:ext cx="2542032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date × brand × channel × discount_type. Pre-summed for the 3-second dashboard.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3593591"/>
            <a:ext cx="2788920" cy="219456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65576" y="3739896"/>
            <a:ext cx="254203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8C4330"/>
                </a:solidFill>
                <a:latin typeface="Calibri"/>
              </a:rPr>
              <a:t>metric_* / semantic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65576" y="4251959"/>
            <a:ext cx="2542032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dbt metrics or a thin semantic layer: net_revenue, gmv, discount_rate, refund_rate, aov.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593591"/>
            <a:ext cx="2788920" cy="219456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91656" y="3739896"/>
            <a:ext cx="254203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8C4330"/>
                </a:solidFill>
                <a:latin typeface="Calibri"/>
              </a:rPr>
              <a:t>dim_product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91656" y="4251959"/>
            <a:ext cx="2542032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Brand, hero category, margin class if we have it. SCD2 for price changes if needed.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89720" y="3593591"/>
            <a:ext cx="2788920" cy="219456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317736" y="3739896"/>
            <a:ext cx="2542032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1" i="0">
                <a:solidFill>
                  <a:srgbClr val="8C4330"/>
                </a:solidFill>
                <a:latin typeface="Calibri"/>
              </a:rPr>
              <a:t>dim_customer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7736" y="4251959"/>
            <a:ext cx="2542032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 i="0">
                <a:solidFill>
                  <a:srgbClr val="3A3430"/>
                </a:solidFill>
                <a:latin typeface="Calibri"/>
              </a:rPr>
              <a:t>Same hashed key as attribution. No PII. Cohort month. Consent flags.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WHERE NET REVENUE IS APPLIED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2  ·  Business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6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One formula, three interfaces — warehouse, BI, Excel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61872"/>
            <a:ext cx="11384280" cy="1051560"/>
          </a:xfrm>
          <a:prstGeom prst="roundRect">
            <a:avLst>
              <a:gd name="adj" fmla="val 5000"/>
            </a:avLst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7160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B8956A"/>
                </a:solidFill>
                <a:latin typeface="Calibri"/>
              </a:rPr>
              <a:t>Draft metric  ·  owned by Finance + Data Product  ·  implemented in dbt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664208"/>
            <a:ext cx="109728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net_revenue  =  gmv  −  discounts  −  refunds  −  chargebacks     (ex-VAT, GBP, exclude test/staff/cancelled)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2468880"/>
            <a:ext cx="5669280" cy="166420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1480" y="2468880"/>
            <a:ext cx="73152" cy="1664208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2648" y="2578608"/>
            <a:ext cx="53583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C1917"/>
                </a:solidFill>
                <a:latin typeface="Calibri"/>
              </a:rPr>
              <a:t>dbt model + test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2889504"/>
            <a:ext cx="5358384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Column net_revenue on fct_order_line and fct_order. Test: header = sum(lines). Test: refunds cannot exceed original net.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468880"/>
            <a:ext cx="5669280" cy="166420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468880"/>
            <a:ext cx="73152" cy="1664208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4808" y="2578608"/>
            <a:ext cx="53583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C1917"/>
                </a:solidFill>
                <a:latin typeface="Calibri"/>
              </a:rPr>
              <a:t>Metric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2889504"/>
            <a:ext cx="5358384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Named metric with dimensions (date, brand, channel, discount_type). Versioned in git. Shown in dbt docs.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" y="4251960"/>
            <a:ext cx="5669280" cy="166420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" y="4251960"/>
            <a:ext cx="73152" cy="1664208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4361688"/>
            <a:ext cx="53583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C1917"/>
                </a:solidFill>
                <a:latin typeface="Calibri"/>
              </a:rPr>
              <a:t>Power BI dataset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" y="4672584"/>
            <a:ext cx="5358384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Thin measures: SUM(net_revenue). No rewrite of the formula. Display folders and descriptions from the catalogue.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4251960"/>
            <a:ext cx="5669280" cy="1664208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4251960"/>
            <a:ext cx="73152" cy="1664208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4361688"/>
            <a:ext cx="53583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1" i="0">
                <a:solidFill>
                  <a:srgbClr val="1C1917"/>
                </a:solidFill>
                <a:latin typeface="Calibri"/>
              </a:rPr>
              <a:t>Excel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4672584"/>
            <a:ext cx="5358384" cy="1152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Analyze in Excel / live connection to the certified dataset. Pivot only. If they need a new metric, it is a dbt PR — not a new column in a CSV.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WHY IT IS SLOW — AND HOW WE GET UNDER 3 SECONDS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2  ·  Business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7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10–15 seconds is a modelling problem wearing a BI costume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5760" y="1261872"/>
          <a:ext cx="1143000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4114800"/>
                <a:gridCol w="4023360"/>
              </a:tblGrid>
              <a:tr h="724988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Today</a:t>
                      </a:r>
                    </a:p>
                  </a:txBody>
                  <a:tcPr marL="73152" marR="73152" marT="54864" marB="54864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Why it hurts</a:t>
                      </a:r>
                    </a:p>
                  </a:txBody>
                  <a:tcPr marL="73152" marR="73152" marT="54864" marB="54864" anchor="ctr">
                    <a:solidFill>
                      <a:srgbClr val="1C191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FFFFFF"/>
                          </a:solidFill>
                          <a:latin typeface="Calibri"/>
                        </a:rPr>
                        <a:t>Change</a:t>
                      </a:r>
                    </a:p>
                  </a:txBody>
                  <a:tcPr marL="73152" marR="73152" marT="54864" marB="54864" anchor="ctr">
                    <a:solidFill>
                      <a:srgbClr val="1C1917"/>
                    </a:solidFill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DirectQuery / live on raw Fivetran tables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Wide JSON-ish tables, no cluster key the BI query hits, joins per visual.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Import (or composite) on agg_finance_day + a few dims. RAW hidden.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Joins in the model for every refund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Fan-out, duplicate GMV, unpredictable totals.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Pre-joined facts in dbt. BI relates on surrogate keys only.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No incremental mart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Every refresh rebuilds history. Warehouse and dataset fight.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Incremental dbt + incremental Power BI refresh on date.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One warehouse for everything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A backfill evicts the cache; finance waits.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Dedicated BI warehouse/SQL endpoint, auto-resume, small.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</a:tr>
              <a:tr h="724988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Too many visuals, too many slicers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Each slicer = another scan.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Exec pack: 6 visuals, date + brand + channel. Detail page optional.</a:t>
                      </a:r>
                    </a:p>
                  </a:txBody>
                  <a:tcPr marL="73152" marR="73152" marT="54864" marB="54864" anchor="ctr">
                    <a:solidFill>
                      <a:srgbClr val="FFFCF8"/>
                    </a:solidFill>
                  </a:tcPr>
                </a:tc>
              </a:tr>
              <a:tr h="724992"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Wide text columns in memory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Import mode bloated; refresh fails.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 i="0">
                          <a:solidFill>
                            <a:srgbClr val="3A3430"/>
                          </a:solidFill>
                          <a:latin typeface="Calibri"/>
                        </a:rPr>
                        <a:t>Mart is typed, hashed IDs, no PII, no raw payloads.</a:t>
                      </a:r>
                    </a:p>
                  </a:txBody>
                  <a:tcPr marL="73152" marR="73152" marT="54864" marB="54864" anchor="ctr">
                    <a:solidFill>
                      <a:srgbClr val="F3EC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EASE OF USE FOR ANALYSTS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2  ·  Business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8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Self-serve is a product: certified data, a catalogue, and a paved road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73152" cy="219456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389888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Find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700784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dbt docs + exposures. A one-page metric catalogue (name, grain, owner, last certified). Power BI endorsed dataset only in the finance workspace.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280160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73152" cy="2194560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389888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Explore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1700784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Shared semantic model: date, brand, channel, discount type. Analysts build reports from the dataset — they do not get warehouse keys on day 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280160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280160"/>
            <a:ext cx="73152" cy="2194560"/>
          </a:xfrm>
          <a:prstGeom prst="rect">
            <a:avLst/>
          </a:prstGeom>
          <a:solidFill>
            <a:srgbClr val="B8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7" y="1389888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Excel, safely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7" y="1700784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Analyze in Excel / live pivot on the certified model. Monthly close can still be a workbook — it cannot be a private extract of RAW.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611879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611879"/>
            <a:ext cx="73152" cy="2194560"/>
          </a:xfrm>
          <a:prstGeom prst="rect">
            <a:avLst/>
          </a:prstGeom>
          <a:solidFill>
            <a:srgbClr val="2C3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21607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Ask for more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032503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New metric = issue → dbt PR → test → release notes. SLA: trivial metric 2–3 days, not a 6-week project. Data Product Manager prioritises.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611879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611879"/>
            <a:ext cx="73152" cy="2194560"/>
          </a:xfrm>
          <a:prstGeom prst="rect">
            <a:avLst/>
          </a:prstGeom>
          <a:solidFill>
            <a:srgbClr val="8C43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8848" y="3721607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Understand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4032503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Every official visual has a hover: definition + as-of timestamp + default filters. Lineage link to the dbt model. No mystery tiles.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3611879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79" y="3611879"/>
            <a:ext cx="73152" cy="2194560"/>
          </a:xfrm>
          <a:prstGeom prst="rect">
            <a:avLst/>
          </a:prstGeom>
          <a:solidFill>
            <a:srgbClr val="A3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5047" y="3721607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Don't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7" y="4032503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A second unofficial dataset 'just for this deck'. Personal gateways. Copy-paste of net revenue DAX. Sharing RAW via Teams.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GOVERNANCE THAT STILL FEELS EASY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2  ·  Business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9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Guardrails, not gatekeeping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5669280" cy="4937760"/>
          </a:xfrm>
          <a:prstGeom prst="roundRect">
            <a:avLst>
              <a:gd name="adj" fmla="val 5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5669280" cy="73152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426464"/>
            <a:ext cx="539496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1917"/>
                </a:solidFill>
                <a:latin typeface="Calibri"/>
              </a:rPr>
              <a:t>Access &amp; privacy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737360"/>
            <a:ext cx="537667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Entra groups: finance_read, marketing_read, de_admin.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Row-level: not required for UK-only start; ready for region later.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Column-level: no email, phone, scan IDs in the finance dataset.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Same hash keys as Section 1 — finance can cohort, not identify.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Unity Catalog + Snowflake grants versioned (Terraform or GRANT models).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Workspace endorsement: only 'Certified — Finance' is used in exec packs.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Audit: who refreshed, who exported. Exports of line-level get a warning.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80160"/>
            <a:ext cx="5532120" cy="4937760"/>
          </a:xfrm>
          <a:prstGeom prst="roundRect">
            <a:avLst>
              <a:gd name="adj" fmla="val 5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80160"/>
            <a:ext cx="5532120" cy="73152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1426464"/>
            <a:ext cx="5257800" cy="3108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1917"/>
                </a:solidFill>
                <a:latin typeface="Calibri"/>
              </a:rPr>
              <a:t>Change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28232" y="1737360"/>
            <a:ext cx="5239512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Metric changes are PRs with Finance as reviewer.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Breaking change (net revenue formula) = versioned metric + dual-run.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dbt CI on PRs: tests must pass before merge.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Airflow blocks Power BI refresh if conservation tests fail — we serve last-good.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Release note in Teams/Slack: what changed, who signed it.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Quarterly: kill unused datasets (Power BI lineage + dbt exposures).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3A3430"/>
                </a:solidFill>
                <a:latin typeface="Calibri"/>
              </a:rPr>
              <a:t>•  Cost: BI warehouse budget; no 24/7 XL cluster for a daily pack.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OPERATING MODEL WITH A SMALL DATA TEAM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2  ·  Business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10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Proactive reliability — the JD — without a 20-person platform group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61872"/>
            <a:ext cx="11338560" cy="8229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417320"/>
            <a:ext cx="2834640" cy="502920"/>
          </a:xfrm>
          <a:prstGeom prst="roundRect">
            <a:avLst>
              <a:gd name="adj" fmla="val 20000"/>
            </a:avLst>
          </a:prstGeom>
          <a:solidFill>
            <a:srgbClr val="F3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481328"/>
            <a:ext cx="26974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8C4330"/>
                </a:solidFill>
                <a:latin typeface="Calibri"/>
              </a:rPr>
              <a:t>Data Product Manager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444752"/>
            <a:ext cx="7863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"/>
              </a:rPr>
              <a:t>Priority, definition workshops, 'this is the number we will defend'.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2176272"/>
            <a:ext cx="11338560" cy="8229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66928" y="2331720"/>
            <a:ext cx="2834640" cy="502920"/>
          </a:xfrm>
          <a:prstGeom prst="roundRect">
            <a:avLst>
              <a:gd name="adj" fmla="val 20000"/>
            </a:avLst>
          </a:prstGeom>
          <a:solidFill>
            <a:srgbClr val="F3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395728"/>
            <a:ext cx="26974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8C4330"/>
                </a:solidFill>
                <a:latin typeface="Calibri"/>
              </a:rPr>
              <a:t>Data Tech Lead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359152"/>
            <a:ext cx="7863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"/>
              </a:rPr>
              <a:t>Standards, stack boundaries, review of dbt contracts and Airflow SLAs.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090672"/>
            <a:ext cx="11338560" cy="8229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66928" y="3246120"/>
            <a:ext cx="2834640" cy="502920"/>
          </a:xfrm>
          <a:prstGeom prst="roundRect">
            <a:avLst>
              <a:gd name="adj" fmla="val 20000"/>
            </a:avLst>
          </a:prstGeom>
          <a:solidFill>
            <a:srgbClr val="F3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10128"/>
            <a:ext cx="26974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8C4330"/>
                </a:solidFill>
                <a:latin typeface="Calibri"/>
              </a:rPr>
              <a:t>Data Engineer (this role)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3273552"/>
            <a:ext cx="7863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"/>
              </a:rPr>
              <a:t>Pipelines, tests, marts, performance, hash/RTBF, on-call for freshness.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4005072"/>
            <a:ext cx="11338560" cy="8229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6928" y="4160520"/>
            <a:ext cx="2834640" cy="502920"/>
          </a:xfrm>
          <a:prstGeom prst="roundRect">
            <a:avLst>
              <a:gd name="adj" fmla="val 20000"/>
            </a:avLst>
          </a:prstGeom>
          <a:solidFill>
            <a:srgbClr val="F3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224528"/>
            <a:ext cx="26974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8C4330"/>
                </a:solidFill>
                <a:latin typeface="Calibri"/>
              </a:rPr>
              <a:t>Finance / Marketing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11880" y="4187952"/>
            <a:ext cx="7863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"/>
              </a:rPr>
              <a:t>Sign definitions. Stop screenshots of Ads Manager as source of truth.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1480" y="4919472"/>
            <a:ext cx="11338560" cy="822960"/>
          </a:xfrm>
          <a:prstGeom prst="roundRect">
            <a:avLst>
              <a:gd name="adj" fmla="val 8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66928" y="5074920"/>
            <a:ext cx="2834640" cy="502920"/>
          </a:xfrm>
          <a:prstGeom prst="roundRect">
            <a:avLst>
              <a:gd name="adj" fmla="val 20000"/>
            </a:avLst>
          </a:prstGeom>
          <a:solidFill>
            <a:srgbClr val="F3EC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138928"/>
            <a:ext cx="2697480" cy="384048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300" b="1" i="0">
                <a:solidFill>
                  <a:srgbClr val="8C4330"/>
                </a:solidFill>
                <a:latin typeface="Calibri"/>
              </a:rPr>
              <a:t>AI / ML stakeholders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5102352"/>
            <a:ext cx="786384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"/>
              </a:rPr>
              <a:t>Read feature tables from Gold, not from finance Excel. Same spine.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ACTIVATION — WHEN, NOT FIRST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2  ·  Business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11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Reverse ETL is in the JD. I would not start there.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5669280" cy="228600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73152" cy="2286000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389888"/>
            <a:ext cx="535838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Later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700784"/>
            <a:ext cx="535838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A3430"/>
                </a:solidFill>
                <a:latin typeface="Calibri"/>
              </a:rPr>
              <a:t>Push LTV, predicted churn, or 'high discount reliance' to CRM / email — from certified Gold, hashed identity, consent-checked. Tool: existing reverse ETL or a thin job. Same Airflow DAG family.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1280160"/>
            <a:ext cx="5532120" cy="228600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63640" y="1280160"/>
            <a:ext cx="73152" cy="2286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1389888"/>
            <a:ext cx="5221224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Not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64808" y="1700784"/>
            <a:ext cx="5221224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>
                <a:solidFill>
                  <a:srgbClr val="3A3430"/>
                </a:solidFill>
                <a:latin typeface="Calibri"/>
              </a:rPr>
              <a:t>Syncing raw emails or half-correct revenue into Klaviyo will industrialise the inconsistency we are here to kill. Activation without a metric layer is how ops and finance diverge forever.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3749039"/>
            <a:ext cx="11384280" cy="2606040"/>
          </a:xfrm>
          <a:prstGeom prst="roundRect">
            <a:avLst>
              <a:gd name="adj" fmla="val 5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886200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1C1917"/>
                </a:solidFill>
                <a:latin typeface="Calibri"/>
              </a:rPr>
              <a:t>Fit to Noli example projects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297680"/>
            <a:ext cx="10972800" cy="1828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"/>
              </a:rPr>
              <a:t>Traffic analysis  —  onsite tracking quality feeds the same UTM + identity spine; finance does not wait on it.
Business data availability  —  this mart is the deliverable.
Clean room  —  share brand-level sell-out / campaign performance, not customer lists.
AI enablement  —  feature tables (discount sensitivity, repeat purchase) built on fct_order_line, not on a dashboard extract.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HOW WE MEASURE SUCCESS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2  ·  Business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12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If we cannot measure it, it is a rebrand of the same mess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3749039" cy="182880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50876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B05C45"/>
                </a:solidFill>
                <a:latin typeface="Calibri"/>
              </a:rPr>
              <a:t>&lt; 3s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24028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"/>
              </a:rPr>
              <a:t>p95 load, exec revenue view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280160"/>
            <a:ext cx="3749039" cy="182880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50876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B05C45"/>
                </a:solidFill>
                <a:latin typeface="Calibri"/>
              </a:rPr>
              <a:t>≥ 70%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24028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"/>
              </a:rPr>
              <a:t>drop in 'numbers don't match' tickets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83879" y="1280160"/>
            <a:ext cx="3749039" cy="182880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59" y="150876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B05C45"/>
                </a:solidFill>
                <a:latin typeface="Calibri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59" y="224028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"/>
              </a:rPr>
              <a:t>board / close packs on certified dataset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" y="3246120"/>
            <a:ext cx="3749039" cy="182880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347472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B05C45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20624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"/>
              </a:rPr>
              <a:t>Power BI models still bound to RAW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3246120"/>
            <a:ext cx="3749039" cy="182880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47472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B05C45"/>
                </a:solidFill>
                <a:latin typeface="Calibri"/>
              </a:rPr>
              <a:t>14d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420624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"/>
              </a:rPr>
              <a:t>conservation + freshness tests green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83879" y="3246120"/>
            <a:ext cx="3749039" cy="182880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66759" y="347472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B05C45"/>
                </a:solidFill>
                <a:latin typeface="Calibri"/>
              </a:rPr>
              <a:t>≤ 3d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59" y="4206240"/>
            <a:ext cx="33832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"/>
              </a:rPr>
              <a:t>time-to-ship a trivial new metric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90-DAY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2  ·  Business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13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Sequence: stop the bleeding, certify one number, then open self-serve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3749039" cy="49377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3749039" cy="77724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353312"/>
            <a:ext cx="3429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Days 1–30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627632"/>
            <a:ext cx="3429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Define &amp; protect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240280"/>
            <a:ext cx="3383280" cy="374903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"/>
              </a:rPr>
              <a:t>Workshop net revenue with Finance + DPM.
Hide RAW from the finance workspace.
Ship fct_order_line + header conservation test.
Performance baseline (analyzer + query history).
Last-good refresh policy in Airflow.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280160"/>
            <a:ext cx="3749039" cy="49377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280160"/>
            <a:ext cx="3749039" cy="777240"/>
          </a:xfrm>
          <a:prstGeom prst="rect">
            <a:avLst/>
          </a:prstGeom>
          <a:solidFill>
            <a:srgbClr val="5F756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1353312"/>
            <a:ext cx="3429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Days 31–60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1627632"/>
            <a:ext cx="3429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Make it fast and official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240280"/>
            <a:ext cx="3383280" cy="374903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"/>
              </a:rPr>
              <a:t>agg_finance_day + Import-mode certified dataset.
Exec dashboard v1: sales, refunds, discount impact.
Analyze in Excel on that dataset only.
Metric catalogue (one page is enough).
p95 under 3s or we keep cutting the model.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83879" y="1280160"/>
            <a:ext cx="3749039" cy="49377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1280160"/>
            <a:ext cx="3749039" cy="777240"/>
          </a:xfrm>
          <a:prstGeom prst="rect">
            <a:avLst/>
          </a:prstGeom>
          <a:solidFill>
            <a:srgbClr val="2C3A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48471" y="1353312"/>
            <a:ext cx="3429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Days 61–90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8471" y="1627632"/>
            <a:ext cx="3429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Self-serve without chaos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59" y="2240280"/>
            <a:ext cx="3383280" cy="3749039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"/>
              </a:rPr>
              <a:t>Analyst workspace on the certified model.
Request SLA for new metrics.
Kill or quarantine unofficial reports.
Hook attribution net to finance net (recon).
Write the runbook; measure ticket drop.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RISKS AND WHAT I WOULD REFUSE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2  ·  Business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14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Downsides, said out loud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280160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1280160"/>
            <a:ext cx="73152" cy="2194560"/>
          </a:xfrm>
          <a:prstGeom prst="rect">
            <a:avLst/>
          </a:prstGeom>
          <a:solidFill>
            <a:srgbClr val="B8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" y="1389888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1917"/>
                </a:solidFill>
                <a:latin typeface="Calibri"/>
              </a:rPr>
              <a:t>dbt + Power BI overlap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1700784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If someone 'quickly' rebuilds net revenue in DAX, we are back to day zero. Mitigation: dataset permissions + review of published measures.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1280160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73152" cy="2194560"/>
          </a:xfrm>
          <a:prstGeom prst="rect">
            <a:avLst/>
          </a:prstGeom>
          <a:solidFill>
            <a:srgbClr val="A3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98848" y="1389888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1917"/>
                </a:solidFill>
                <a:latin typeface="Calibri"/>
              </a:rPr>
              <a:t>Two warehouses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8848" y="1700784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Snowflake + Databricks without a Gold SoR doubles cost and definitions. Mitigation: one serving layer for finance.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1280160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83879" y="1280160"/>
            <a:ext cx="73152" cy="2194560"/>
          </a:xfrm>
          <a:prstGeom prst="rect">
            <a:avLst/>
          </a:prstGeom>
          <a:solidFill>
            <a:srgbClr val="B8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7" y="1389888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1917"/>
                </a:solidFill>
                <a:latin typeface="Calibri"/>
              </a:rPr>
              <a:t>Fivetran bill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7" y="1700784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Finance wants every connector 'just in case'. Mitigation: model-driven connectors; pause unused MAR.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11480" y="3611879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3611879"/>
            <a:ext cx="73152" cy="2194560"/>
          </a:xfrm>
          <a:prstGeom prst="rect">
            <a:avLst/>
          </a:prstGeom>
          <a:solidFill>
            <a:srgbClr val="A3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" y="3721607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1917"/>
                </a:solidFill>
                <a:latin typeface="Calibri"/>
              </a:rPr>
              <a:t>Over-modelling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" y="4032503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A 40-dim Kimball cathedral delays the close. Mitigation: line fact + 5 dims, then grow.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611879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611879"/>
            <a:ext cx="73152" cy="2194560"/>
          </a:xfrm>
          <a:prstGeom prst="rect">
            <a:avLst/>
          </a:prstGeom>
          <a:solidFill>
            <a:srgbClr val="B8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8848" y="3721607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1917"/>
                </a:solidFill>
                <a:latin typeface="Calibri"/>
              </a:rPr>
              <a:t>AI on junk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4032503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Genie/Chat on RAW will sound confident and be wrong. Mitigation: AI only on certified Gold.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3879" y="3611879"/>
            <a:ext cx="3749039" cy="2194560"/>
          </a:xfrm>
          <a:prstGeom prst="roundRect">
            <a:avLst>
              <a:gd name="adj" fmla="val 6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83879" y="3611879"/>
            <a:ext cx="73152" cy="2194560"/>
          </a:xfrm>
          <a:prstGeom prst="rect">
            <a:avLst/>
          </a:prstGeom>
          <a:solidFill>
            <a:srgbClr val="A345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85047" y="3721607"/>
            <a:ext cx="3438143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 i="0">
                <a:solidFill>
                  <a:srgbClr val="1C1917"/>
                </a:solidFill>
                <a:latin typeface="Calibri"/>
              </a:rPr>
              <a:t>People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85047" y="4032503"/>
            <a:ext cx="3438143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
                  <a:srgbClr val="3A3430"/>
                </a:solidFill>
                <a:latin typeface="Calibri"/>
              </a:rPr>
              <a:t>Self-serve fails if Finance never attends the definition workshop. Mitigation: DPM-owned decision log.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6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B0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64592"/>
            <a:ext cx="914400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1" i="0">
                <a:solidFill>
                  <a:srgbClr val="B05C45"/>
                </a:solidFill>
                <a:latin typeface="Calibri"/>
              </a:rPr>
              <a:t>CLOSE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6565392"/>
            <a:ext cx="11338560" cy="13716"/>
          </a:xfrm>
          <a:prstGeom prst="rect">
            <a:avLst/>
          </a:prstGeom>
          <a:solidFill>
            <a:srgbClr val="E4D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6583680"/>
            <a:ext cx="731520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000" b="0" i="0">
                <a:solidFill>
                  <a:srgbClr val="7A7168"/>
                </a:solidFill>
                <a:latin typeface="Calibri"/>
              </a:rPr>
              <a:t>Noli  ·  Data Engineer business case  ·  Section 2  ·  Business solution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0" y="6583680"/>
            <a:ext cx="2103120" cy="219456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000" b="0" i="0">
                <a:solidFill>
                  <a:srgbClr val="7A7168"/>
                </a:solidFill>
                <a:latin typeface="Calibri"/>
              </a:rPr>
              <a:t>15  /  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438912"/>
            <a:ext cx="1133856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800" b="1" i="0">
                <a:solidFill>
                  <a:srgbClr val="1C1917"/>
                </a:solidFill>
                <a:latin typeface="Calibri"/>
              </a:rPr>
              <a:t>The platform in one sentence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325880"/>
            <a:ext cx="11384280" cy="1554480"/>
          </a:xfrm>
          <a:prstGeom prst="roundRect">
            <a:avLst>
              <a:gd name="adj" fmla="val 5000"/>
            </a:avLst>
          </a:prstGeom>
          <a:solidFill>
            <a:srgbClr val="1C19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554480"/>
            <a:ext cx="10881360" cy="11430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FFFFFF"/>
                </a:solidFill>
                <a:latin typeface="Calibri"/>
              </a:rPr>
              <a:t>Ingest with Fivetran, process the hard things in Databricks, govern with Delta / Unity Catalog,
serve from Snowflake, define meaning in dbt, run the clock with Airflow, and let Power BI
and Excel consume — never redefine — a hashed, tested Gold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1480" y="3108960"/>
            <a:ext cx="3749039" cy="155448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246120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05C45"/>
                </a:solidFill>
                <a:latin typeface="Calibri"/>
              </a:rPr>
              <a:t>Trust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70332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"/>
              </a:rPr>
              <a:t>One net revenue. Conservation tests. Last-good publish.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108960"/>
            <a:ext cx="3749039" cy="155448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3246120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05C45"/>
                </a:solidFill>
                <a:latin typeface="Calibri"/>
              </a:rPr>
              <a:t>Speed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370332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"/>
              </a:rPr>
              <a:t>Day-level mart. Import mode. Separate BI compute.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83879" y="3108960"/>
            <a:ext cx="3749039" cy="1554480"/>
          </a:xfrm>
          <a:prstGeom prst="roundRect">
            <a:avLst>
              <a:gd name="adj" fmla="val 7000"/>
            </a:avLst>
          </a:prstGeom>
          <a:solidFill>
            <a:srgbClr val="FFFCF8"/>
          </a:solidFill>
          <a:ln w="12700">
            <a:solidFill>
              <a:srgbClr val="E4D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66760" y="3246120"/>
            <a:ext cx="3383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 i="0">
                <a:solidFill>
                  <a:srgbClr val="B05C45"/>
                </a:solidFill>
                <a:latin typeface="Calibri"/>
              </a:rPr>
              <a:t>Ease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703320"/>
            <a:ext cx="33832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 i="0">
                <a:solidFill>
                  <a:srgbClr val="3A3430"/>
                </a:solidFill>
                <a:latin typeface="Calibri"/>
              </a:rPr>
              <a:t>Certified dataset, catalogue, Excel live, metric SLA.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4892040"/>
            <a:ext cx="11338560" cy="1371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 i="0">
                <a:solidFill>
                  <a:srgbClr val="3A3430"/>
                </a:solidFill>
                <a:latin typeface="Calibri Light"/>
              </a:rPr>
              <a:t>I would start Monday with the definition workshop and turning off RAW access in the finance workspace.
Everything else is implementation.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